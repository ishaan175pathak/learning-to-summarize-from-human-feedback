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7" r:id="rId4"/>
    <p:sldId id="259" r:id="rId5"/>
    <p:sldId id="260" r:id="rId6"/>
    <p:sldId id="268" r:id="rId7"/>
    <p:sldId id="261" r:id="rId8"/>
    <p:sldId id="263" r:id="rId9"/>
    <p:sldId id="265" r:id="rId10"/>
    <p:sldId id="270" r:id="rId11"/>
    <p:sldId id="271" r:id="rId12"/>
    <p:sldId id="272" r:id="rId13"/>
    <p:sldId id="273" r:id="rId14"/>
    <p:sldId id="274" r:id="rId15"/>
    <p:sldId id="266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>
        <p:scale>
          <a:sx n="91" d="100"/>
          <a:sy n="91" d="100"/>
        </p:scale>
        <p:origin x="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A5930-7778-49B3-B199-11F200123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D0360-479B-4B0E-89AD-22BDFACF0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C2C78-1897-49AB-89ED-930896C9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3D2FD-E3C0-49FA-A1DA-6D0A5E2F1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9C504-A24D-420C-B5CC-06BCCBE8A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4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A13CE-3009-44BE-AD79-00D5EAD6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5A75A-E3F7-40DF-8E7D-E81BFA9CB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4D1F8-CA1B-43FF-957B-6177779FA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847F8-3DD2-42A5-B8B6-4AB1AB8A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50C09-4006-489F-B75C-FE771360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76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ADC8-46AB-4E15-8976-551490ADC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FF57E-BB05-460C-AF83-6B0A47774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D281-890C-4F88-B923-CA42F83A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A2E8A-E4BB-45DB-9428-74364C2D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7E9B4-03B4-4BC0-BCC3-1258A9835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3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634B-840D-4F0B-946E-D67EF05D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8C1BA-D760-421F-A0A1-65E292449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25C09-0234-494D-BC5E-15879232A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68C51-3A23-4D35-8DA6-A95D0C89C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7A387-7FAA-41EC-9C68-49FF870FD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248D1-F293-461D-B5DD-5AA9A9CA7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9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1206-3675-434E-9B86-F6C685D6F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2B80-DA91-45E6-9F19-4DA1D89CF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49854-1475-4ED3-AD30-22590CC82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CF4B7-9675-49E6-9678-F8CF7444A5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95ED7-06EF-4269-8B7E-CFCFF8FD1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8DFC2D-B9C6-47AA-8A67-8C04AAB42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7CCBC-A6B8-4F40-ABF4-4E424D72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2C87C-52A3-49B4-BC9F-57913A93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16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C87F-D24C-4E72-AB79-37A4FCD9C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1959F-F341-4AA0-BBDD-CFD34DF95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972FA-3BD0-429F-9092-77F2D082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C4496-E07F-45E5-857C-11F6AFEC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15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40E42-4BEC-4F0D-A81E-EB6EAED8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4CF29E-820E-4EC9-89BB-46E817CA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63988-62C1-423C-9687-BABE7B82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58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4534-DCC3-4F26-9F8F-6E26F8A8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A78C6-A433-4D10-9D69-659EDB214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ABF39-77C4-4FD3-89D3-052AAD836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60341-F236-49AA-AE86-D563E5C1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36D5D-E32D-47DF-9257-E02AD3C18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C77E6-B487-4135-877E-EB35134A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7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D082E-0A18-432A-AA4A-0838EB60E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C1BFB-EAB1-42AA-8754-54605681F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6E526-65C9-421F-A8D0-702DF7680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CBEA0-8E63-4812-8623-412B86F6F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1B21A-35F6-42DF-BF25-A8D45903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197CF-FC79-4CF4-BF14-87E29F02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9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5D5A-7160-40B8-BAD4-8DAF2571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FFF69C-29E1-4CE0-BB9C-5BBF5329D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29108-29D6-4F13-BEFF-F0AF6029A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B19B0-03FB-4C57-8ECA-CE795C8C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44C5D-E718-4DE9-A1DE-42163BC59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0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226A3E-F3A6-4C36-964F-EE8635B7E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A6211D-7F65-4069-9FAA-14EDC6EEF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12E6-60A2-4C27-8C02-14B7B2797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62116-030B-48A6-A195-1EC135016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6D34E-1FC7-4D64-A421-F7DD02FB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6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48B180-E3BC-46D1-88D1-8C71B3B6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EC49C-056B-455F-B930-84EB6459C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81459-DA1B-4169-BE55-1CEE5814E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C55FF-6B9F-4A43-A301-08292F01FA6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4AA3F-2A05-41D8-A892-C0B4618D0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FE7B1-5D65-4914-BED5-5BF9AF5C2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CB390-FC92-4F2B-AF02-A7C693A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2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E9559-3E60-4082-BDD9-0A252234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C0C0C0"/>
                </a:highlight>
              </a:rPr>
              <a:t>CRE Paper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7D632-546C-44E6-9E93-C4C2896F4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Team:  Ishaan Pathak, Jaswanth Krishna Kondisetty, Rahul Potharaju.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Title: Learning to Summarize from Human Feedback.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Authors: Nisan Stiennon, Long Ouyang, Jeff Wu, Daniel Ziegler, Ryan Lowe Chelsea Voss, Alec Radford, Dario Amodei, Paul Christiano.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Published in NeurIPS 2020 proceedings.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Citations: 34.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624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A08B-8EC5-4610-A14F-FEFD47831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C0C0C0"/>
                </a:highlight>
              </a:rPr>
              <a:t>Key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D5C556-E885-5C43-027A-A900F6BBB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374" y="2028781"/>
            <a:ext cx="11917251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What’s the main goal?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Traditional summarization models rely on automatic metrics like ROUGE, which don’t always reflect what humans find useful.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research uses human feedback to improve AI-generated summaries.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do they achieve this?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 train a reward model that learns what summaries humans prefer.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Instead of supervised learning, they use reinforcement learning (PPO) to fine-tune the AI.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model is tested to see if it generalizes well (performs well on new data).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final step is comparing human feedback with traditional evaluation metrics like ROUGE to show why human preferences are better.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627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DBABD-35A8-4BE8-B740-316230B2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C0C0C0"/>
                </a:highlight>
              </a:rPr>
              <a:t>Methodology-AI Training 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1CECE9-862C-7D91-806E-DC38FB42A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1378" y="1990378"/>
            <a:ext cx="11705822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dirty="0"/>
              <a:t>How was the AI trained?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A baseline AI summarization model was trained using the Reddit TL;DR dataset to generate concise summaries from long text inputs.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Human annotators compared AI-generated summaries and provided preference-based rankings, helping to identify which summaries better aligned with human expectations.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A reward model was trained to predict human preferences, learning what makes a summary high-quality according to humans.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The summarization model was fine-tuned using Proximal Policy Optimization (PPO), ensuring that the AI optimized summaries based on human preferences rather than traditional evaluation metrics like ROUGE.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404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DBABD-35A8-4BE8-B740-316230B2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C0C0C0"/>
                </a:highlight>
              </a:rPr>
              <a:t>How AI Learns to Summarize: Human Feedback Approach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33925D-6AD3-5A1A-2CF0-A827C9886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386" y="1896459"/>
            <a:ext cx="7927832" cy="4351338"/>
          </a:xfrm>
        </p:spPr>
      </p:pic>
    </p:spTree>
    <p:extLst>
      <p:ext uri="{BB962C8B-B14F-4D97-AF65-F5344CB8AC3E}">
        <p14:creationId xmlns:p14="http://schemas.microsoft.com/office/powerpoint/2010/main" val="109491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EEFD-92C5-44B8-A1FA-9218623A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C0C0C0"/>
                </a:highlight>
              </a:rPr>
              <a:t>Key Findings – Performance Comparison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E3A18F-0FD4-24F1-74F6-A539302B99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6670" y="1242819"/>
            <a:ext cx="12115007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 models trained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human feedback outperform traditional supervised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Even smaller models trained with human feedback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achieve better results than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larger supervised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Summaries generated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human feedback-trained models are often preferred over human-written ones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0345D1-67AD-C5F0-142D-574E093A9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803" y="2608952"/>
            <a:ext cx="5209389" cy="388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06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EEFD-92C5-44B8-A1FA-9218623A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C0C0C0"/>
                </a:highlight>
              </a:rPr>
              <a:t>Key Findings - Summary Quality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47F5E-A82B-437A-A70E-F3FFEA759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AI trained with human feedback improves across multiple factors: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Coverage</a:t>
            </a:r>
            <a:r>
              <a:rPr lang="en-US" sz="2000" dirty="0"/>
              <a:t> – Captures important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Coherence</a:t>
            </a:r>
            <a:r>
              <a:rPr lang="en-US" sz="2000" dirty="0"/>
              <a:t> – Produces clear, structured summaries.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Accuracy</a:t>
            </a:r>
            <a:r>
              <a:rPr lang="en-US" sz="2000" dirty="0"/>
              <a:t> – Avoids incorrect or misleading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Overall Quality</a:t>
            </a:r>
            <a:r>
              <a:rPr lang="en-US" sz="2000" dirty="0"/>
              <a:t> – Summaries align better with human preferences.</a:t>
            </a:r>
          </a:p>
          <a:p>
            <a:r>
              <a:rPr lang="en-US" sz="2000" b="1" dirty="0"/>
              <a:t> Why does this matter?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Traditional AI evaluation metrics (ROUGE) do not measure </a:t>
            </a:r>
          </a:p>
          <a:p>
            <a:pPr marL="0" indent="0">
              <a:buNone/>
            </a:pPr>
            <a:r>
              <a:rPr lang="en-US" sz="2000" dirty="0"/>
              <a:t>     readability or human preference.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Human feedback leads to better, more human-like summaries.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8BB3D6-787A-0F0D-2952-AD71E074B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463" y="1690687"/>
            <a:ext cx="4031086" cy="389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76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6AC02-7F09-42D3-9B27-EFD2C99C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highlight>
                  <a:srgbClr val="C0C0C0"/>
                </a:highlight>
              </a:rPr>
              <a:t>Why Traditional AI Models Fail?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AA19F-A854-5270-0A01-DEFC17DDA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AI summarization models struggle 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rely too heavily on ROUGE, which does not reflect human preferences.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often miss key details, leading to incomplete or misleading summaries.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fail to generalize across different domains.</a:t>
            </a:r>
          </a:p>
          <a:p>
            <a:r>
              <a:rPr lang="en-US" dirty="0"/>
              <a:t> How does human feedback solve this?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teaches AI what humans prefer, leading to more meaningful summaries.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502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EF272-7EEB-49A9-81F3-B36599EB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C0C0C0"/>
                </a:highlight>
              </a:rPr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99C13-068F-255F-4007-39230AA34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this research improves AI summarization in real-world applications: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News Summarization</a:t>
            </a:r>
            <a:r>
              <a:rPr lang="en-US" dirty="0"/>
              <a:t> – it can generate more readable news summaries.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Customer Support Bots</a:t>
            </a:r>
            <a:r>
              <a:rPr lang="en-US" dirty="0"/>
              <a:t> - AI chatbots summarize user queries better.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Educational </a:t>
            </a:r>
            <a:r>
              <a:rPr lang="en-US" dirty="0"/>
              <a:t> - AI simplifies complex topics for better understanding.</a:t>
            </a:r>
          </a:p>
          <a:p>
            <a:r>
              <a:rPr lang="en-US" dirty="0"/>
              <a:t> </a:t>
            </a:r>
            <a:r>
              <a:rPr lang="en-US" b="1" dirty="0"/>
              <a:t>Other NLP Applications - </a:t>
            </a:r>
            <a:r>
              <a:rPr lang="en-US" dirty="0"/>
              <a:t>Search Engine Summarization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Dialogue Systems</a:t>
            </a:r>
            <a:r>
              <a:rPr lang="en-US" dirty="0"/>
              <a:t> – these chatbots give </a:t>
            </a:r>
            <a:r>
              <a:rPr lang="en-US" b="1" dirty="0"/>
              <a:t>more relevant responses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Machine Translation</a:t>
            </a:r>
            <a:r>
              <a:rPr lang="en-US" dirty="0"/>
              <a:t> – it can produce </a:t>
            </a:r>
            <a:r>
              <a:rPr lang="en-US" b="1" dirty="0"/>
              <a:t>more natural translations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04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0D3A-B159-4271-AD9F-56D742883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highlight>
                  <a:srgbClr val="C0C0C0"/>
                </a:highlight>
              </a:rPr>
              <a:t>Ideas for Future Research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77C2E-4291-4A40-9118-094E197A4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Potential improvements for AI summarization: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Expanding human feedback learning to other NLP tasks, chatbots and search engines.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Improving human feedback collection to reduce annotation costs and labeling bias.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Preventing over-optimization – ensuring models do not learn shortcuts that reduce summary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Scaling up AI reward models to handle more complex language processing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246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1E2207-45D2-5161-8DF9-7022A43B7481}"/>
              </a:ext>
            </a:extLst>
          </p:cNvPr>
          <p:cNvSpPr txBox="1"/>
          <p:nvPr/>
        </p:nvSpPr>
        <p:spPr>
          <a:xfrm>
            <a:off x="924909" y="1611161"/>
            <a:ext cx="865526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C0C0C0"/>
                </a:highlight>
              </a:rPr>
              <a:t>Phase 1:</a:t>
            </a:r>
            <a:r>
              <a:rPr lang="en-US" sz="2800" dirty="0"/>
              <a:t> Supervised Summarization with Preference Labeling</a:t>
            </a:r>
          </a:p>
          <a:p>
            <a:endParaRPr lang="en-US" sz="2800" dirty="0"/>
          </a:p>
          <a:p>
            <a:r>
              <a:rPr lang="en-US" sz="2800" dirty="0">
                <a:highlight>
                  <a:srgbClr val="C0C0C0"/>
                </a:highlight>
              </a:rPr>
              <a:t>Phase 2: </a:t>
            </a:r>
            <a:r>
              <a:rPr lang="en-US" sz="2800" dirty="0"/>
              <a:t>Reward Model Training based on Preference</a:t>
            </a:r>
          </a:p>
          <a:p>
            <a:endParaRPr lang="en-US" sz="2800" dirty="0"/>
          </a:p>
          <a:p>
            <a:r>
              <a:rPr lang="en-US" sz="2800" dirty="0">
                <a:highlight>
                  <a:srgbClr val="C0C0C0"/>
                </a:highlight>
              </a:rPr>
              <a:t>Data Objective:</a:t>
            </a:r>
            <a:r>
              <a:rPr lang="en-US" sz="2800" dirty="0"/>
              <a:t> Align summarization with human-like</a:t>
            </a:r>
          </a:p>
          <a:p>
            <a:r>
              <a:rPr lang="en-US" sz="2800" dirty="0"/>
              <a:t>Preferences</a:t>
            </a:r>
          </a:p>
          <a:p>
            <a:endParaRPr lang="en-US" sz="2800" dirty="0"/>
          </a:p>
          <a:p>
            <a:r>
              <a:rPr lang="en-US" sz="2800" dirty="0">
                <a:highlight>
                  <a:srgbClr val="C0C0C0"/>
                </a:highlight>
              </a:rPr>
              <a:t>Tools Used: </a:t>
            </a:r>
            <a:r>
              <a:rPr lang="en-US" sz="2800" dirty="0"/>
              <a:t>BART, BERT, Hugging Face Transformers, CNN/</a:t>
            </a:r>
            <a:r>
              <a:rPr lang="en-US" sz="2800" dirty="0" err="1"/>
              <a:t>DailyMail</a:t>
            </a:r>
            <a:r>
              <a:rPr lang="en-US" sz="2800" dirty="0"/>
              <a:t>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974B4A-9910-3EA1-3D3D-6D99B2B87E38}"/>
              </a:ext>
            </a:extLst>
          </p:cNvPr>
          <p:cNvSpPr txBox="1"/>
          <p:nvPr/>
        </p:nvSpPr>
        <p:spPr>
          <a:xfrm>
            <a:off x="2822028" y="46960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highlight>
                  <a:srgbClr val="C0C0C0"/>
                </a:highlight>
              </a:rPr>
              <a:t>Our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536452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C32FDE-2A11-123E-CA79-17D150772F8B}"/>
              </a:ext>
            </a:extLst>
          </p:cNvPr>
          <p:cNvSpPr txBox="1"/>
          <p:nvPr/>
        </p:nvSpPr>
        <p:spPr>
          <a:xfrm>
            <a:off x="719958" y="3305243"/>
            <a:ext cx="796158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400" dirty="0"/>
              <a:t>Used ROUGE-L score to pick the preferred summary. Built labeled dataset: (Article, Greedy Summary, Beam Summary, Preferred Label).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FA1B7-7CFC-EE82-C2F3-BD9B2AF69C6F}"/>
              </a:ext>
            </a:extLst>
          </p:cNvPr>
          <p:cNvSpPr txBox="1"/>
          <p:nvPr/>
        </p:nvSpPr>
        <p:spPr>
          <a:xfrm>
            <a:off x="3699642" y="6422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highlight>
                  <a:srgbClr val="C0C0C0"/>
                </a:highlight>
              </a:rPr>
              <a:t>Phase 1 – Supervised Summarization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9210B-63E4-98C7-A7C7-2982CDC58DA7}"/>
              </a:ext>
            </a:extLst>
          </p:cNvPr>
          <p:cNvSpPr txBox="1"/>
          <p:nvPr/>
        </p:nvSpPr>
        <p:spPr>
          <a:xfrm>
            <a:off x="719958" y="157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C0C0C0"/>
                </a:highlight>
              </a:rPr>
              <a:t>Summarizer Used:</a:t>
            </a:r>
            <a:r>
              <a:rPr lang="en-US" sz="1800" dirty="0"/>
              <a:t> Facebook/Bart-large-</a:t>
            </a:r>
            <a:r>
              <a:rPr lang="en-US" sz="1800" dirty="0" err="1"/>
              <a:t>cnn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7B575F-1623-51F8-7CD8-63997270F9FE}"/>
              </a:ext>
            </a:extLst>
          </p:cNvPr>
          <p:cNvSpPr txBox="1"/>
          <p:nvPr/>
        </p:nvSpPr>
        <p:spPr>
          <a:xfrm>
            <a:off x="719958" y="20148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C0C0C0"/>
                </a:highlight>
              </a:rPr>
              <a:t>Summary Generation Techniques: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84666A-ADA7-DD9E-AAAD-779E0ABE8928}"/>
              </a:ext>
            </a:extLst>
          </p:cNvPr>
          <p:cNvSpPr txBox="1"/>
          <p:nvPr/>
        </p:nvSpPr>
        <p:spPr>
          <a:xfrm>
            <a:off x="719958" y="2453331"/>
            <a:ext cx="58490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Greedy Decoding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Beam Search Decoding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1B9F9C-E588-8AE9-2B4E-6B2F60829645}"/>
              </a:ext>
            </a:extLst>
          </p:cNvPr>
          <p:cNvSpPr txBox="1"/>
          <p:nvPr/>
        </p:nvSpPr>
        <p:spPr>
          <a:xfrm>
            <a:off x="719958" y="30191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C0C0C0"/>
                </a:highlight>
              </a:rPr>
              <a:t>Preference Selection:</a:t>
            </a:r>
          </a:p>
        </p:txBody>
      </p:sp>
    </p:spTree>
    <p:extLst>
      <p:ext uri="{BB962C8B-B14F-4D97-AF65-F5344CB8AC3E}">
        <p14:creationId xmlns:p14="http://schemas.microsoft.com/office/powerpoint/2010/main" val="3386071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5BDFF5-8FE3-FAF9-DE45-E0E295D180C1}"/>
              </a:ext>
            </a:extLst>
          </p:cNvPr>
          <p:cNvSpPr txBox="1"/>
          <p:nvPr/>
        </p:nvSpPr>
        <p:spPr>
          <a:xfrm>
            <a:off x="4162096" y="9005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Phase 2 – Reward Model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F469A-B2D2-6798-58F6-BA4E3F74A48F}"/>
              </a:ext>
            </a:extLst>
          </p:cNvPr>
          <p:cNvSpPr txBox="1"/>
          <p:nvPr/>
        </p:nvSpPr>
        <p:spPr>
          <a:xfrm>
            <a:off x="1161393" y="1987155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highlight>
                <a:srgbClr val="C0C0C0"/>
              </a:highlight>
            </a:endParaRPr>
          </a:p>
          <a:p>
            <a:r>
              <a:rPr lang="en-US" dirty="0">
                <a:highlight>
                  <a:srgbClr val="C0C0C0"/>
                </a:highlight>
              </a:rPr>
              <a:t>Model: </a:t>
            </a:r>
            <a:r>
              <a:rPr lang="en-US" dirty="0"/>
              <a:t>Bert-base-uncased fine-tuned for binary classification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Inputs:</a:t>
            </a:r>
            <a:r>
              <a:rPr lang="en-US" dirty="0"/>
              <a:t>(Article + Summary) pairs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Labels</a:t>
            </a:r>
            <a:r>
              <a:rPr lang="en-US" dirty="0"/>
              <a:t>:1 → Preferred0 → Not Preferred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Objective: </a:t>
            </a:r>
            <a:r>
              <a:rPr lang="en-US" dirty="0"/>
              <a:t>Predict which summary a human would prefer automatically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123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AB8D238-2A6F-ED81-1BB4-C129DAEE54F8}"/>
              </a:ext>
            </a:extLst>
          </p:cNvPr>
          <p:cNvSpPr txBox="1"/>
          <p:nvPr/>
        </p:nvSpPr>
        <p:spPr>
          <a:xfrm>
            <a:off x="4367046" y="6430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b="1" dirty="0">
                <a:highlight>
                  <a:srgbClr val="C0C0C0"/>
                </a:highlight>
              </a:rPr>
              <a:t>Reward Model Evaluation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64320A-5FE7-C010-57DD-5EFB7C4F09D2}"/>
              </a:ext>
            </a:extLst>
          </p:cNvPr>
          <p:cNvSpPr txBox="1"/>
          <p:nvPr/>
        </p:nvSpPr>
        <p:spPr>
          <a:xfrm>
            <a:off x="945928" y="1337552"/>
            <a:ext cx="68422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</a:rPr>
              <a:t>Metrics Achieved: </a:t>
            </a:r>
            <a:r>
              <a:rPr lang="en-US" sz="1600" dirty="0"/>
              <a:t>Accuracy, Precision, Recall, F1-score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C0C0C0"/>
                </a:highlight>
              </a:rPr>
              <a:t>Visualization: </a:t>
            </a:r>
            <a:r>
              <a:rPr lang="en-US" sz="1600" dirty="0"/>
              <a:t>Confusion Matrix showing model performance</a:t>
            </a:r>
          </a:p>
          <a:p>
            <a:endParaRPr lang="en-US" sz="1600" dirty="0"/>
          </a:p>
          <a:p>
            <a:r>
              <a:rPr lang="en-US" sz="1600" dirty="0">
                <a:highlight>
                  <a:srgbClr val="C0C0C0"/>
                </a:highlight>
              </a:rPr>
              <a:t>Outcome: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Model successfully learned to predict preferences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Demonstrated the feasibility of automating feedback without human annotation.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692170-47D9-F5BB-88B1-72590278C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853" y="3645876"/>
            <a:ext cx="3610139" cy="280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87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AE8429-68F7-856C-7A05-B1E15E218892}"/>
              </a:ext>
            </a:extLst>
          </p:cNvPr>
          <p:cNvSpPr txBox="1"/>
          <p:nvPr/>
        </p:nvSpPr>
        <p:spPr>
          <a:xfrm>
            <a:off x="4256689" y="4963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Alignment with Future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5F410-69DE-CF32-A9CA-9F3331FC9ED8}"/>
              </a:ext>
            </a:extLst>
          </p:cNvPr>
          <p:cNvSpPr txBox="1"/>
          <p:nvPr/>
        </p:nvSpPr>
        <p:spPr>
          <a:xfrm>
            <a:off x="1108841" y="1597260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Successfully built: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Summarization preference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reward model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Directly enables the next step: </a:t>
            </a:r>
            <a:r>
              <a:rPr lang="en-US" dirty="0"/>
              <a:t>Reinforcement Learning (PPO)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Ready to extend: 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Multi-domain preference modeling,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human-in-the-loop feedback systems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Fully aligned with future work proposed by </a:t>
            </a:r>
            <a:r>
              <a:rPr lang="en-US" dirty="0" err="1"/>
              <a:t>Stiennon</a:t>
            </a:r>
            <a:r>
              <a:rPr lang="en-US" dirty="0"/>
              <a:t> et al., 2020</a:t>
            </a:r>
          </a:p>
        </p:txBody>
      </p:sp>
    </p:spTree>
    <p:extLst>
      <p:ext uri="{BB962C8B-B14F-4D97-AF65-F5344CB8AC3E}">
        <p14:creationId xmlns:p14="http://schemas.microsoft.com/office/powerpoint/2010/main" val="696614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969E-EBFB-48A4-8925-FA337B5B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23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highlight>
                  <a:srgbClr val="C0C0C0"/>
                </a:highlight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DBA95-7BD4-4C9C-A519-D6592C5F7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008"/>
            <a:ext cx="10515600" cy="523526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/>
              <a:t>Human feedback significantly improves AI summarization quality.</a:t>
            </a:r>
          </a:p>
          <a:p>
            <a:pPr algn="just"/>
            <a:r>
              <a:rPr lang="en-US" sz="3200" dirty="0"/>
              <a:t>Models trained with human feedback generalize better than supervised models.</a:t>
            </a:r>
          </a:p>
          <a:p>
            <a:pPr algn="just"/>
            <a:r>
              <a:rPr lang="en-US" sz="3200" dirty="0"/>
              <a:t>ROUGE and other automated metrics are unreliable.</a:t>
            </a:r>
          </a:p>
          <a:p>
            <a:pPr algn="just"/>
            <a:r>
              <a:rPr lang="en-US" sz="3200" dirty="0"/>
              <a:t> Future research should focus on scaling human feedback-driven AI training methods</a:t>
            </a:r>
            <a:r>
              <a:rPr lang="en-US" b="1" dirty="0"/>
              <a:t>.</a:t>
            </a:r>
          </a:p>
          <a:p>
            <a:pPr algn="just"/>
            <a:r>
              <a:rPr lang="en-US" dirty="0"/>
              <a:t> </a:t>
            </a:r>
            <a:r>
              <a:rPr lang="en-US" sz="3200" dirty="0">
                <a:highlight>
                  <a:srgbClr val="C0C0C0"/>
                </a:highlight>
              </a:rPr>
              <a:t>Final Thought: </a:t>
            </a:r>
          </a:p>
          <a:p>
            <a:pPr marL="0" indent="0">
              <a:buNone/>
            </a:pPr>
            <a:r>
              <a:rPr lang="en-US" sz="3200" dirty="0"/>
              <a:t> "This research is a glimpse into the future of AI training— were</a:t>
            </a:r>
          </a:p>
          <a:p>
            <a:pPr marL="0" indent="0">
              <a:buNone/>
            </a:pPr>
            <a:r>
              <a:rPr lang="en-US" sz="3200" dirty="0"/>
              <a:t>   instead of optimizing for arbitrary metrics, AI learns directly from</a:t>
            </a:r>
          </a:p>
          <a:p>
            <a:pPr marL="0" indent="0">
              <a:buNone/>
            </a:pPr>
            <a:r>
              <a:rPr lang="en-US" sz="3200" dirty="0"/>
              <a:t>   humans. The implications go far beyond summarization, shaping</a:t>
            </a:r>
          </a:p>
          <a:p>
            <a:pPr marL="0" indent="0">
              <a:buNone/>
            </a:pPr>
            <a:r>
              <a:rPr lang="en-US" sz="3200" dirty="0"/>
              <a:t>   how AI aligns with human needs in the years to come."</a:t>
            </a:r>
          </a:p>
        </p:txBody>
      </p:sp>
    </p:spTree>
    <p:extLst>
      <p:ext uri="{BB962C8B-B14F-4D97-AF65-F5344CB8AC3E}">
        <p14:creationId xmlns:p14="http://schemas.microsoft.com/office/powerpoint/2010/main" val="449052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6D784B5-FFB7-53F5-5A16-4C2FA29C0C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01851" y="1279078"/>
            <a:ext cx="523091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“Thank you for your time!”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6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“Any questions?” </a:t>
            </a:r>
          </a:p>
        </p:txBody>
      </p:sp>
    </p:spTree>
    <p:extLst>
      <p:ext uri="{BB962C8B-B14F-4D97-AF65-F5344CB8AC3E}">
        <p14:creationId xmlns:p14="http://schemas.microsoft.com/office/powerpoint/2010/main" val="573886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941</Words>
  <Application>Microsoft Office PowerPoint</Application>
  <PresentationFormat>Widescreen</PresentationFormat>
  <Paragraphs>129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CRE Paper Presentation</vt:lpstr>
      <vt:lpstr>Key Objectives</vt:lpstr>
      <vt:lpstr>Methodology-AI Training Process</vt:lpstr>
      <vt:lpstr>How AI Learns to Summarize: Human Feedback Approach</vt:lpstr>
      <vt:lpstr>Key Findings – Performance Comparison</vt:lpstr>
      <vt:lpstr>Key Findings - Summary Quality Metrics</vt:lpstr>
      <vt:lpstr>Why Traditional AI Models Fail?</vt:lpstr>
      <vt:lpstr>Real-World Applications</vt:lpstr>
      <vt:lpstr>Ideas for Future Research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 Paper Presentation Team Name</dc:title>
  <dc:creator>Paula Lauren</dc:creator>
  <cp:lastModifiedBy>jaswanth krishna</cp:lastModifiedBy>
  <cp:revision>9</cp:revision>
  <dcterms:created xsi:type="dcterms:W3CDTF">2024-09-10T19:10:03Z</dcterms:created>
  <dcterms:modified xsi:type="dcterms:W3CDTF">2025-04-28T03:40:06Z</dcterms:modified>
</cp:coreProperties>
</file>